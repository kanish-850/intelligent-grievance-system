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971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1D4ED8"/>
                </a:solidFill>
              </a:defRPr>
            </a:pPr>
            <a:r>
              <a:t>FINAL ACADEMIC PROJECT DEFENSE</a:t>
            </a:r>
          </a:p>
          <a:p>
            <a:pPr>
              <a:spcAft>
                <a:spcPts val="1000"/>
              </a:spcAft>
              <a:defRPr sz="2800" b="1">
                <a:solidFill>
                  <a:srgbClr val="0F172A"/>
                </a:solidFill>
              </a:defRPr>
            </a:pPr>
            <a:r>
              <a:t>Intelligent Multilingual Grievance Categorization &amp;</a:t>
            </a:r>
            <a:br/>
            <a:r>
              <a:t>Automated Dispatch Framework</a:t>
            </a:r>
          </a:p>
          <a:p>
            <a:pPr>
              <a:spcAft>
                <a:spcPts val="2800"/>
              </a:spcAft>
              <a:defRPr sz="1800">
                <a:solidFill>
                  <a:srgbClr val="64748B"/>
                </a:solidFill>
              </a:defRPr>
            </a:pPr>
            <a:r>
              <a:t>for Central Government Portals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84048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ARCHITECTURE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4-Tier Microservices (React, Express, FastAPI, Postgres)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384048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MACHINE LEARNING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TF-IDF Vectorization + Calibrated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84632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EVALUATION DATASET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675 Academic Synthetic Samples (9 Categories)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484632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VERIFICATION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99 Automated Tests Passing (34 Pytest, 65 Node Tests)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BACKGROUND &amp; MOTIVATION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Problem Statement: Central Portal Triage Bottlenecks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Identified Operational Bottlenecks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High Complaint Latency: </a:t>
            </a:r>
            <a:r>
              <a:rPr b="0" sz="1100">
                <a:solidFill>
                  <a:srgbClr val="1E293B"/>
                </a:solidFill>
              </a:rPr>
              <a:t>Central portals receive thousands of complaints daily; manual triage creates massive processing backlogs.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Frequent Misrouting: </a:t>
            </a:r>
            <a:r>
              <a:rPr b="0" sz="1100">
                <a:solidFill>
                  <a:srgbClr val="1E293B"/>
                </a:solidFill>
              </a:rPr>
              <a:t>Citizens manually select target departments from dropdown menus, leading to inter-department transfers.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Unprioritized Safety Risks: </a:t>
            </a:r>
            <a:r>
              <a:rPr b="0" sz="1100">
                <a:solidFill>
                  <a:srgbClr val="1E293B"/>
                </a:solidFill>
              </a:rPr>
              <a:t>Urgent infrastructure or public safety hazards wait in line behind routine inquiries.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Multilingual Barrier: </a:t>
            </a:r>
            <a:r>
              <a:rPr b="0" sz="1100">
                <a:solidFill>
                  <a:srgbClr val="1E293B"/>
                </a:solidFill>
              </a:rPr>
              <a:t>Citizens file complaints in diverse regional Indic scripts, creating language translation barriers for officers.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Opaque Citizen Tracking: </a:t>
            </a:r>
            <a:r>
              <a:rPr b="0" sz="1100">
                <a:solidFill>
                  <a:srgbClr val="1E293B"/>
                </a:solidFill>
              </a:rPr>
              <a:t>Lack of automated contextual status assistance leaves citizens unaware of complaint progress.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Operational Impact &amp; Target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Triage Latency: </a:t>
            </a:r>
            <a:r>
              <a:rPr b="0" sz="1100">
                <a:solidFill>
                  <a:srgbClr val="1E293B"/>
                </a:solidFill>
              </a:rPr>
              <a:t>Manual sorting creates processing delays before complaints reach officer queues.</a:t>
            </a:r>
          </a:p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Routing Accuracy: </a:t>
            </a:r>
            <a:r>
              <a:rPr b="0" sz="1100">
                <a:solidFill>
                  <a:srgbClr val="1E293B"/>
                </a:solidFill>
              </a:rPr>
              <a:t>High frequency of inter-department misrouting when citizens select target departments manually.</a:t>
            </a:r>
          </a:p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Emergency Escalation: </a:t>
            </a:r>
            <a:r>
              <a:rPr b="0" sz="1100">
                <a:solidFill>
                  <a:srgbClr val="1E293B"/>
                </a:solidFill>
              </a:rPr>
              <a:t>Lack of automated keyword detection to escalate urgent leaks, power hazards, or contamination.</a:t>
            </a:r>
          </a:p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Language Friction: </a:t>
            </a:r>
            <a:r>
              <a:rPr b="0" sz="1100">
                <a:solidFill>
                  <a:srgbClr val="1E293B"/>
                </a:solidFill>
              </a:rPr>
              <a:t>Non-English regional complaints face severe processing delays due to manual script identification.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PROJECT GOALS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Project Objectives &amp; Technical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1. Automated AI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Implement statistical machine learning (TF-IDF + Logistic Regression) to classify raw complaint text into 9 primary government domains with confidence scores.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2. Urgency &amp; Priority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Analyze emergency keywords to predict complaint priority (LOW, MEDIUM, HIGH, CRITICAL) and assign SLA resolution deadlines.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3. Confidence-Based Human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Establish automated thresholding (75% confidence) to route uncertain AI predictions to administrators for human classification correction.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4. Explainable AI (XAI) Transparency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Extract exact TF-IDF token contribution weights for predictions, providing clear feature explanations for every assigned category.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5. Role-Based Governance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Build isolated web portals for Citizens (submit &amp; track), Officers (department-locked queues &amp; status updates), and Admins (analytics &amp; overrides).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6. Intent-Based Conversational Chatbot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Provide a 24/7 multi-turn citizen assistant for status tracking, reference retrieval, filing guidance, and department inquiry.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SYSTEM COMPARISON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System Comparison: Existing Manual vs Proposed Framework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144975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Existing Conventional Portals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Proposed Intelligent Framework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Department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Manual selection by citizen; high error rate.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Automated TF-IDF + Logistic Regression classification.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Priority &amp; Urgency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First-in-first-out (FIFO); no emergency urgency flag.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Urgency term analysis assigning LOW to CRITICAL SLAs.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Uncertain Predictions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Accepted automatically or misrouted silently.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Confidence threshold check (75%) flagging human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Explainability (XAI)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Black-box or manual administrative decision.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Exact TF-IDF token contribution scores returned per class.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Citizen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Static FAQ pages or slow email queries.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24/7 multi-turn intent-based chatbot for reference tracking.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SYSTEM ARCHITECTURE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Decoupled 4-Tier Microservices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1. React + TS Frontend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1508760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80 (Nginx) / 5173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Single Page App (SPA), AuthContext, Axios API Client, Role-based Dashboards, Tailwind CSS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7479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Node.js + Express 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697479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5000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JWT Auth, RBAC Middleware, Workflow Logic, Prisma ORM, Notification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66534"/>
                </a:solidFill>
                <a:latin typeface="Arial"/>
              </a:defRPr>
            </a:pPr>
            <a:r>
              <a:t>3. Python FastAPI AI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886200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8001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FastAPI, Scikit-learn ML Pipeline, Langdetect, Priority Predictor, Chatbot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3776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749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Arial"/>
              </a:defRPr>
            </a:pPr>
            <a:r>
              <a:t>4. PostgreSQL 15 Database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5074920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5432 / 5433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Relational persistence: Users, Departments, Grievances, Status History, Notifications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TECH STACK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Technology Stack &amp; Core Dependencies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Frontend UI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Framework: </a:t>
            </a:r>
            <a:r>
              <a:rPr b="0" sz="1100">
                <a:solidFill>
                  <a:srgbClr val="1E293B"/>
                </a:solidFill>
              </a:rPr>
              <a:t>React 18 + TypeScript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Build Tool: </a:t>
            </a:r>
            <a:r>
              <a:rPr b="0" sz="1100">
                <a:solidFill>
                  <a:srgbClr val="1E293B"/>
                </a:solidFill>
              </a:rPr>
              <a:t>Vite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Styling: </a:t>
            </a:r>
            <a:r>
              <a:rPr b="0" sz="1100">
                <a:solidFill>
                  <a:srgbClr val="1E293B"/>
                </a:solidFill>
              </a:rPr>
              <a:t>Tailwind CSS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Icons: </a:t>
            </a:r>
            <a:r>
              <a:rPr b="0" sz="1100">
                <a:solidFill>
                  <a:srgbClr val="1E293B"/>
                </a:solidFill>
              </a:rPr>
              <a:t>Lucide React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Backend Gateway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Runtime: </a:t>
            </a:r>
            <a:r>
              <a:rPr b="0" sz="1100">
                <a:solidFill>
                  <a:srgbClr val="1E293B"/>
                </a:solidFill>
              </a:rPr>
              <a:t>Node.js v20+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Framework: </a:t>
            </a:r>
            <a:r>
              <a:rPr b="0" sz="1100">
                <a:solidFill>
                  <a:srgbClr val="1E293B"/>
                </a:solidFill>
              </a:rPr>
              <a:t>Express.js v4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ORM: </a:t>
            </a:r>
            <a:r>
              <a:rPr b="0" sz="1100">
                <a:solidFill>
                  <a:srgbClr val="1E293B"/>
                </a:solidFill>
              </a:rPr>
              <a:t>Prisma ORM v6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Security: </a:t>
            </a:r>
            <a:r>
              <a:rPr b="0" sz="1100">
                <a:solidFill>
                  <a:srgbClr val="1E293B"/>
                </a:solidFill>
              </a:rPr>
              <a:t>JWT + bcryptjs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AI Microservice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Language: </a:t>
            </a:r>
            <a:r>
              <a:rPr b="0" sz="1100">
                <a:solidFill>
                  <a:srgbClr val="1E293B"/>
                </a:solidFill>
              </a:rPr>
              <a:t>Python 3.11 / 3.13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Framework: </a:t>
            </a:r>
            <a:r>
              <a:rPr b="0" sz="1100">
                <a:solidFill>
                  <a:srgbClr val="1E293B"/>
                </a:solidFill>
              </a:rPr>
              <a:t>FastAPI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ML Toolkit: </a:t>
            </a:r>
            <a:r>
              <a:rPr b="0" sz="1100">
                <a:solidFill>
                  <a:srgbClr val="1E293B"/>
                </a:solidFill>
              </a:rPr>
              <a:t>Scikit-learn + Joblib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NLP: </a:t>
            </a:r>
            <a:r>
              <a:rPr b="0" sz="1100">
                <a:solidFill>
                  <a:srgbClr val="1E293B"/>
                </a:solidFill>
              </a:rPr>
              <a:t>Langdetect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4048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97764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Database &amp;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2976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Database: </a:t>
            </a:r>
            <a:r>
              <a:rPr b="0" sz="1100">
                <a:solidFill>
                  <a:srgbClr val="1E293B"/>
                </a:solidFill>
              </a:rPr>
              <a:t>PostgreSQL 15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Containerization: </a:t>
            </a:r>
            <a:r>
              <a:rPr b="0" sz="1100">
                <a:solidFill>
                  <a:srgbClr val="1E293B"/>
                </a:solidFill>
              </a:rPr>
              <a:t>Docker &amp; Docker Compose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Testing: </a:t>
            </a:r>
            <a:r>
              <a:rPr b="0" sz="1100">
                <a:solidFill>
                  <a:srgbClr val="1E293B"/>
                </a:solidFill>
              </a:rPr>
              <a:t>Pytest &amp; Node --test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Quality: </a:t>
            </a:r>
            <a:r>
              <a:rPr b="0" sz="1100">
                <a:solidFill>
                  <a:srgbClr val="1E293B"/>
                </a:solidFill>
              </a:rPr>
              <a:t>ESLint &amp; Vite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DATABASE SCHEMA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Database Design: Prisma Relational Schema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508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Stores account credentials, role (CITIZEN, OFFICER, ADMIN), and optional department_id for officers.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79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Department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468879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Master catalog of 9 government departments (Water Supply, Electricity, PWD, Healthcare, etc.).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Grievance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42900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Central entity storing complaint text, status, priority, department, AI confidence, XAI terms, and human correction flags.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GrievanceStatusHistory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3891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Immutable audit trail capturing status transitions (SUBMITTED → UNDER_REVIEW → RESOLVED/REJECTED) and officer remarks.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Notification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3492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In-app citizen notification records triggered on workflow events (STATUS_CHANGED, REVIEW_FLAGGED).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WORKFLOW LIFECYCLE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End-to-End Grievance Processing &amp; Resolution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1.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Citizen enters complaint text (min 5 chars).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2. Language &amp; Prep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Langdetect checks script; text lowercased.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3. ML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TF-IDF + LogReg predicts category &amp; confidence.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4. Urgency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Urgency keywords set priority &amp; SLA hours.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5. Confidence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Conf &lt; 75% flags ai_review_required: true.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6. DB Persistence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Saved in Postgres; reference GRV-2026-XXXX issued.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7. Officer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Department officer updates status + remarks.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8. Citizen Notice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In-app status change notification sent.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MACHINE LEARNING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AI/ML Methodology: TF-IDF + Logistic Regression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TF-IDF Feature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N-gram Range: </a:t>
            </a:r>
            <a:r>
              <a:rPr b="0" sz="1100">
                <a:solidFill>
                  <a:srgbClr val="1E293B"/>
                </a:solidFill>
              </a:rPr>
              <a:t>ngram_range=(1, 2) (Unigrams &amp; Bigrams)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Max Features: </a:t>
            </a:r>
            <a:r>
              <a:rPr b="0" sz="1100">
                <a:solidFill>
                  <a:srgbClr val="1E293B"/>
                </a:solidFill>
              </a:rPr>
              <a:t>max_features=5000 top informative terms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Sublinear TF: </a:t>
            </a:r>
            <a:r>
              <a:rPr b="0" sz="1100">
                <a:solidFill>
                  <a:srgbClr val="1E293B"/>
                </a:solidFill>
              </a:rPr>
              <a:t>sublinear_tf=True (1 + log(tf) scaling)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Preprocessing: </a:t>
            </a:r>
            <a:r>
              <a:rPr b="0" sz="1100">
                <a:solidFill>
                  <a:srgbClr val="1E293B"/>
                </a:solidFill>
              </a:rPr>
              <a:t>lowercase=True, stop-word &amp; noise removal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Mathematical TF-IDF: </a:t>
            </a:r>
            <a:r>
              <a:rPr b="0" sz="1100">
                <a:solidFill>
                  <a:srgbClr val="1E293B"/>
                </a:solidFill>
              </a:rPr>
              <a:t>TF-IDF(t,d) = TF(t,d) x log(N / df_t)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Logistic Regression &amp; XAI Explanations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Inverse Reg Strength: </a:t>
            </a:r>
            <a:r>
              <a:rPr b="0" sz="1100">
                <a:solidFill>
                  <a:srgbClr val="1E293B"/>
                </a:solidFill>
              </a:rPr>
              <a:t>C=2.5 (optimal fit / regularization balance)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Solver &amp; Iterations: </a:t>
            </a:r>
            <a:r>
              <a:rPr b="0" sz="1100">
                <a:solidFill>
                  <a:srgbClr val="1E293B"/>
                </a:solidFill>
              </a:rPr>
              <a:t>solver='lbfgs', max_iter=1000, seed=42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Softmax Multiclass: </a:t>
            </a:r>
            <a:r>
              <a:rPr b="0" sz="1100">
                <a:solidFill>
                  <a:srgbClr val="1E293B"/>
                </a:solidFill>
              </a:rPr>
              <a:t>P(y=k|x) = exp(w_k.x + b_k) / Sum(exp(w_j.x + b_j))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XAI Token Weights: </a:t>
            </a:r>
            <a:r>
              <a:rPr b="0" sz="1100">
                <a:solidFill>
                  <a:srgbClr val="1E293B"/>
                </a:solidFill>
              </a:rPr>
              <a:t>Score(t) = TF-IDF(t) x w_predicted_class(t)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Academic Disclaimer: </a:t>
            </a:r>
            <a:r>
              <a:rPr b="0" sz="1100">
                <a:solidFill>
                  <a:srgbClr val="1E293B"/>
                </a:solidFill>
              </a:rPr>
              <a:t>Does NOT use Transformer models or LLMs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HUMAN-IN-THE-LOOP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Confidence Thresholding &amp; Human Classification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66534"/>
                </a:solidFill>
                <a:latin typeface="Arial"/>
              </a:defRPr>
            </a:pPr>
            <a:r>
              <a:t>HIGH Confidence (&gt;= 0.75)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1508760"/>
            <a:ext cx="283464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66534"/>
                </a:solidFill>
              </a:defRPr>
            </a:pPr>
            <a:r>
              <a:t>AUTOMATIC DISPATCH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ai_review_required: false. Complaint is routed directly to the predicted department queue.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Audit Trail: Admin correction updates category &amp; department_id, preserving ai_original_category and setting is_human_corrected: true.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Arial"/>
              </a:defRPr>
            </a:pPr>
            <a:r>
              <a:t>MEDIUM Confidence (0.50 - 0.74)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063240"/>
            <a:ext cx="283464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B45309"/>
                </a:solidFill>
              </a:defRPr>
            </a:pPr>
            <a:r>
              <a:t>FLAGGED FOR HUMAN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ai_review_required: true. Complaint is flagged in Admin dashboard for manual inspection.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Audit Trail: Admin correction updates category &amp; department_id, preserving ai_original_category and setting is_human_corrected: true.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91C1C"/>
                </a:solidFill>
                <a:latin typeface="Arial"/>
              </a:defRPr>
            </a:pPr>
            <a:r>
              <a:t>LOW Confidence (&lt; 0.50)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617720"/>
            <a:ext cx="283464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B91C1C"/>
                </a:solidFill>
              </a:defRPr>
            </a:pPr>
            <a:r>
              <a:t>ESCALATED HUMAN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ai_review_required: true. Low-confidence or out-of-domain text assigned category 'Other'.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Audit Trail: Admin correction updates category &amp; department_id, preserving ai_original_category and setting is_human_corrected: true.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MULTILINGUAL &amp; CHATBOT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Multilingual Language Detection &amp; Intent Chatbot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Multilingual Handling (Langdetect)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Language Detector: </a:t>
            </a:r>
            <a:r>
              <a:rPr b="0" sz="1100">
                <a:solidFill>
                  <a:srgbClr val="1E293B"/>
                </a:solidFill>
              </a:rPr>
              <a:t>Uses langdetect library to identify ISO-639-1 language codes (en, hi, ta, te, mr, etc.).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Script Preservation: </a:t>
            </a:r>
            <a:r>
              <a:rPr b="0" sz="1100">
                <a:solidFill>
                  <a:srgbClr val="1E293B"/>
                </a:solidFill>
              </a:rPr>
              <a:t>Preserves original regional text in Postgres without altering citizen input.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Keyword Fallback: </a:t>
            </a:r>
            <a:r>
              <a:rPr b="0" sz="1100">
                <a:solidFill>
                  <a:srgbClr val="1E293B"/>
                </a:solidFill>
              </a:rPr>
              <a:t>Applies keyword rules for regional script domain terms.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Honest Disclaimer: </a:t>
            </a:r>
            <a:r>
              <a:rPr b="0" sz="1100">
                <a:solidFill>
                  <a:srgbClr val="1E293B"/>
                </a:solidFill>
              </a:rPr>
              <a:t>Does NOT perform IndicTrans2 neural translation; regional text preserved as-is.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Intent-Based Citizen Chatbot (9 Intents)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9 Explicit Intents: </a:t>
            </a:r>
            <a:r>
              <a:rPr b="0" sz="1100">
                <a:solidFill>
                  <a:srgbClr val="1E293B"/>
                </a:solidFill>
              </a:rPr>
              <a:t>GREETING, PRIORITY_INFO, PROCESS_INFO, TRACKING_GUIDANCE, SUBMIT_GUIDANCE, DEPT_INFO, HELP, GRIEVANCE_STATUS, UNKNOWN.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Entity Extraction: </a:t>
            </a:r>
            <a:r>
              <a:rPr b="0" sz="1100">
                <a:solidFill>
                  <a:srgbClr val="1E293B"/>
                </a:solidFill>
              </a:rPr>
              <a:t>Regex matches GRV-YYYY-XXXXXX reference tracking codes.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Context Recall: </a:t>
            </a:r>
            <a:r>
              <a:rPr b="0" sz="1100">
                <a:solidFill>
                  <a:srgbClr val="1E293B"/>
                </a:solidFill>
              </a:rPr>
              <a:t>Session context memory recalls last_grievance_number for pronouns ('it', 'this complaint').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Data Privacy: </a:t>
            </a:r>
            <a:r>
              <a:rPr b="0" sz="1100">
                <a:solidFill>
                  <a:srgbClr val="1E293B"/>
                </a:solidFill>
              </a:rPr>
              <a:t>Filters queries by authenticated user's grievances (user_id == req.user.id).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SECURITY &amp; PRIVACY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Security Architecture &amp; Role-Based Access Control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JWT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Stateless 24-hour JSON Web Tokens passed in Authorization: Bearer header. Validated via authenticate middleware.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Password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Salted bcrypt hashing (cost factor 10) applied to passwords prior to PostgreSQL persistence.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Role-Based Access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requireRole('CITIZEN', 'OFFICER', 'ADMIN') middleware blocks unauthorized endpoint invocation with HTTP 403.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Citizen Ownership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Grievance lookups strictly include where: { user_id: req.user.id }, preventing cross-user data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Officer Department Isolation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Officer queues filter by where: { department_id: req.user.department_id }, enforcing department boundaries.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SQL Injection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Prisma ORM parameterizes all SQL database queries, eliminating raw SQL string injection risks.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UI SHOWCASE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Application User Interface &amp; Portal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Citizen Submission</a:t>
            </a:r>
          </a:p>
        </p:txBody>
      </p:sp>
      <p:pic>
        <p:nvPicPr>
          <p:cNvPr id="5" name="Picture 4" descr="01_citizen_submi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46320" cy="1828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280160"/>
            <a:ext cx="51206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41731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Multilingual Chatbot</a:t>
            </a:r>
          </a:p>
        </p:txBody>
      </p:sp>
      <p:pic>
        <p:nvPicPr>
          <p:cNvPr id="8" name="Picture 7" descr="02_chatbot_inte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37360"/>
            <a:ext cx="4846320" cy="1828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3840479"/>
            <a:ext cx="51206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Officer Queue</a:t>
            </a:r>
          </a:p>
        </p:txBody>
      </p:sp>
      <p:pic>
        <p:nvPicPr>
          <p:cNvPr id="11" name="Picture 10" descr="03_officer_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97679"/>
            <a:ext cx="4846320" cy="1828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26480" y="3840479"/>
            <a:ext cx="51206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97763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4. Admin Overview</a:t>
            </a:r>
          </a:p>
        </p:txBody>
      </p:sp>
      <p:pic>
        <p:nvPicPr>
          <p:cNvPr id="14" name="Picture 13" descr="04_admin_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297679"/>
            <a:ext cx="48463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TESTING RESULTS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Empirical Testing &amp; Verification Metrics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66534"/>
                </a:solidFill>
              </a:defRPr>
            </a:pPr>
            <a:r>
              <a:t>34 / 34 Passed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Python Pytest AI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044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66534"/>
                </a:solidFill>
              </a:defRPr>
            </a:pPr>
            <a:r>
              <a:t>65 / 65 Passed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Node Backend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0 Errors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Frontend ESLint Quality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SUCCESS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Vite Production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Academic Synthetic Dataset Evaluation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03628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Dataset Composition: </a:t>
            </a:r>
            <a:r>
              <a:rPr b="0" sz="1100">
                <a:solidFill>
                  <a:srgbClr val="1E293B"/>
                </a:solidFill>
              </a:rPr>
              <a:t>675 academic synthetic samples split into Train (472, 70%), Validation (101, 15%), and Test (102, 15%). Seed: 42.</a:t>
            </a:r>
          </a:p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Validation Accuracy: </a:t>
            </a:r>
            <a:r>
              <a:rPr b="0" sz="1100">
                <a:solidFill>
                  <a:srgbClr val="1E293B"/>
                </a:solidFill>
              </a:rPr>
              <a:t>100.0% accuracy, precision, recall, and F1-score on the clean synthetic validation split (validation.csv).</a:t>
            </a:r>
          </a:p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Academic Honesty: </a:t>
            </a:r>
            <a:r>
              <a:rPr b="0" sz="1100">
                <a:solidFill>
                  <a:srgbClr val="1E293B"/>
                </a:solidFill>
              </a:rPr>
              <a:t>Synthetic dataset performance does NOT equal real-world portal accuracy. Real citizen complaints contain heavy noise and spelling typos.</a:t>
            </a:r>
          </a:p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Docker Compose Config: </a:t>
            </a:r>
            <a:r>
              <a:rPr b="0" sz="1100">
                <a:solidFill>
                  <a:srgbClr val="1E293B"/>
                </a:solidFill>
              </a:rPr>
              <a:t>docker compose config validated syntax across all 4 containerized microservices.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CONCLUSION &amp; FUTURE SCOPE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Conclusion, Verified Limitations &amp; 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91C1C"/>
                </a:solidFill>
                <a:latin typeface="Arial"/>
              </a:defRPr>
            </a:pPr>
            <a:r>
              <a:t>Verified Technical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Classifier Scope: </a:t>
            </a:r>
            <a:r>
              <a:rPr b="0" sz="1100">
                <a:solidFill>
                  <a:srgbClr val="1E293B"/>
                </a:solidFill>
              </a:rPr>
              <a:t>Uses TF-IDF + Logistic Regression (does NOT use BERT or deep Transformers).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Language Limits: </a:t>
            </a:r>
            <a:r>
              <a:rPr b="0" sz="1100">
                <a:solidFill>
                  <a:srgbClr val="1E293B"/>
                </a:solidFill>
              </a:rPr>
              <a:t>Language detection active; regional text preserved without neural IndicTrans2 translation.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Chatbot Scope: </a:t>
            </a:r>
            <a:r>
              <a:rPr b="0" sz="1100">
                <a:solidFill>
                  <a:srgbClr val="1E293B"/>
                </a:solidFill>
              </a:rPr>
              <a:t>Explicit intent matching schemas; not a generative LLM or RAG model.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Synthetic Dataset: </a:t>
            </a:r>
            <a:r>
              <a:rPr b="0" sz="1100">
                <a:solidFill>
                  <a:srgbClr val="1E293B"/>
                </a:solidFill>
              </a:rPr>
              <a:t>Evaluated on 675 synthetic samples; real-world government data required for production scale.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66534"/>
                </a:solidFill>
                <a:latin typeface="Arial"/>
              </a:defRPr>
            </a:pPr>
            <a:r>
              <a:t>Future Technical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IndicBERT Transformer: </a:t>
            </a:r>
            <a:r>
              <a:rPr b="0" sz="1100">
                <a:solidFill>
                  <a:srgbClr val="1E293B"/>
                </a:solidFill>
              </a:rPr>
              <a:t>Fine-tune IndicBERT or mBERT embeddings for contextual Indic language understanding.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Neural Translation: </a:t>
            </a:r>
            <a:r>
              <a:rPr b="0" sz="1100">
                <a:solidFill>
                  <a:srgbClr val="1E293B"/>
                </a:solidFill>
              </a:rPr>
              <a:t>Integrate IndicTrans2 NMT model for 22 official Indian languages.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Active Learning Pipeline: </a:t>
            </a:r>
            <a:r>
              <a:rPr b="0" sz="1100">
                <a:solidFill>
                  <a:srgbClr val="1E293B"/>
                </a:solidFill>
              </a:rPr>
              <a:t>Collect admin human corrections to automatically retrain model weights.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Telephony &amp; SMS: </a:t>
            </a:r>
            <a:r>
              <a:rPr b="0" sz="1100">
                <a:solidFill>
                  <a:srgbClr val="1E293B"/>
                </a:solidFill>
              </a:rPr>
              <a:t>Connect Twilio / NIC SMS &amp; WhatsApp gateways for low-literacy populations.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