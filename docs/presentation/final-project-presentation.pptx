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097280"/>
            <a:ext cx="999713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1D4ED8"/>
                </a:solidFill>
              </a:defRPr>
            </a:pPr>
            <a:r>
              <a:t>FINAL ACADEMIC PROJECT DEFENSE</a:t>
            </a:r>
          </a:p>
          <a:p>
            <a:pPr>
              <a:spcAft>
                <a:spcPts val="1000"/>
              </a:spcAft>
              <a:defRPr sz="2800" b="1">
                <a:solidFill>
                  <a:srgbClr val="0F172A"/>
                </a:solidFill>
              </a:defRPr>
            </a:pPr>
            <a:r>
              <a:t>Intelligent Multilingual Grievance Categorization &amp;</a:t>
            </a:r>
            <a:br/>
            <a:r>
              <a:t>Automated Dispatch Framework</a:t>
            </a:r>
          </a:p>
          <a:p>
            <a:pPr>
              <a:spcAft>
                <a:spcPts val="2800"/>
              </a:spcAft>
              <a:defRPr sz="1800">
                <a:solidFill>
                  <a:srgbClr val="64748B"/>
                </a:solidFill>
              </a:defRPr>
            </a:pPr>
            <a:r>
              <a:t>for Central Government Portals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3840480"/>
            <a:ext cx="4663440" cy="82296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900" b="1">
                <a:solidFill>
                  <a:srgbClr val="1D4ED8"/>
                </a:solidFill>
              </a:defRPr>
            </a:pPr>
            <a:r>
              <a:t>ARCHITECTURE</a:t>
            </a:r>
          </a:p>
          <a:p>
            <a:pPr>
              <a:defRPr sz="1100" b="1">
                <a:solidFill>
                  <a:srgbClr val="1E293B"/>
                </a:solidFill>
              </a:defRPr>
            </a:pPr>
            <a:r>
              <a:t>4-Tier Microservices (React, Express, FastAPI, Postgres)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0" y="3840480"/>
            <a:ext cx="4663440" cy="82296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900" b="1">
                <a:solidFill>
                  <a:srgbClr val="1D4ED8"/>
                </a:solidFill>
              </a:defRPr>
            </a:pPr>
            <a:r>
              <a:t>MACHINE LEARNING</a:t>
            </a:r>
          </a:p>
          <a:p>
            <a:pPr>
              <a:defRPr sz="1100" b="1">
                <a:solidFill>
                  <a:srgbClr val="1E293B"/>
                </a:solidFill>
              </a:defRPr>
            </a:pPr>
            <a:r>
              <a:t>TF-IDF Vectorization + Calibrated Logistic Regression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4846320"/>
            <a:ext cx="4663440" cy="82296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900" b="1">
                <a:solidFill>
                  <a:srgbClr val="1D4ED8"/>
                </a:solidFill>
              </a:defRPr>
            </a:pPr>
            <a:r>
              <a:t>EVALUATION DATASET</a:t>
            </a:r>
          </a:p>
          <a:p>
            <a:pPr>
              <a:defRPr sz="1100" b="1">
                <a:solidFill>
                  <a:srgbClr val="1E293B"/>
                </a:solidFill>
              </a:defRPr>
            </a:pPr>
            <a:r>
              <a:t>675 Academic Synthetic Samples (9 Categories)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4846320"/>
            <a:ext cx="4663440" cy="82296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900" b="1">
                <a:solidFill>
                  <a:srgbClr val="1D4ED8"/>
                </a:solidFill>
              </a:defRPr>
            </a:pPr>
            <a:r>
              <a:t>VERIFICATION</a:t>
            </a:r>
          </a:p>
          <a:p>
            <a:pPr>
              <a:defRPr sz="1100" b="1">
                <a:solidFill>
                  <a:srgbClr val="1E293B"/>
                </a:solidFill>
              </a:defRPr>
            </a:pPr>
            <a:r>
              <a:t>99 Automated Tests Passing (34 Pytest, 65 Node Tests)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1D4ED8"/>
                </a:solidFill>
                <a:latin typeface="Arial"/>
              </a:defRPr>
            </a:pPr>
            <a:r>
              <a:t>BACKGROUND &amp; MOTIVATION</a:t>
            </a:r>
          </a:p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Problem Statement: Central Portal Triage Bottlenecks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0876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Arial"/>
              </a:defRPr>
            </a:pPr>
            <a:r>
              <a:t>Identified Operational Bottlenecks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200">
                <a:solidFill>
                  <a:srgbClr val="1D4ED8"/>
                </a:solidFill>
              </a:defRPr>
            </a:pPr>
            <a:r>
              <a:t>• High Complaint Latency: </a:t>
            </a:r>
            <a:r>
              <a:rPr b="0" sz="1100">
                <a:solidFill>
                  <a:srgbClr val="1E293B"/>
                </a:solidFill>
              </a:rPr>
              <a:t>Central portals receive thousands of complaints daily; manual triage creates massive processing backlogs.</a:t>
            </a:r>
          </a:p>
          <a:p>
            <a:pPr>
              <a:spcAft>
                <a:spcPts val="800"/>
              </a:spcAft>
              <a:defRPr b="1" sz="1200">
                <a:solidFill>
                  <a:srgbClr val="1D4ED8"/>
                </a:solidFill>
              </a:defRPr>
            </a:pPr>
            <a:r>
              <a:t>• Frequent Misrouting: </a:t>
            </a:r>
            <a:r>
              <a:rPr b="0" sz="1100">
                <a:solidFill>
                  <a:srgbClr val="1E293B"/>
                </a:solidFill>
              </a:rPr>
              <a:t>Citizens manually select target departments from dropdown menus, leading to inter-department transfers.</a:t>
            </a:r>
          </a:p>
          <a:p>
            <a:pPr>
              <a:spcAft>
                <a:spcPts val="800"/>
              </a:spcAft>
              <a:defRPr b="1" sz="1200">
                <a:solidFill>
                  <a:srgbClr val="1D4ED8"/>
                </a:solidFill>
              </a:defRPr>
            </a:pPr>
            <a:r>
              <a:t>• Unprioritized Safety Risks: </a:t>
            </a:r>
            <a:r>
              <a:rPr b="0" sz="1100">
                <a:solidFill>
                  <a:srgbClr val="1E293B"/>
                </a:solidFill>
              </a:rPr>
              <a:t>Urgent infrastructure or public safety hazards wait in line behind routine inquiries.</a:t>
            </a:r>
          </a:p>
          <a:p>
            <a:pPr>
              <a:spcAft>
                <a:spcPts val="800"/>
              </a:spcAft>
              <a:defRPr b="1" sz="1200">
                <a:solidFill>
                  <a:srgbClr val="1D4ED8"/>
                </a:solidFill>
              </a:defRPr>
            </a:pPr>
            <a:r>
              <a:t>• Multilingual Barrier: </a:t>
            </a:r>
            <a:r>
              <a:rPr b="0" sz="1100">
                <a:solidFill>
                  <a:srgbClr val="1E293B"/>
                </a:solidFill>
              </a:rPr>
              <a:t>Citizens file complaints in diverse regional Indic scripts, creating language translation barriers for officers.</a:t>
            </a:r>
          </a:p>
          <a:p>
            <a:pPr>
              <a:spcAft>
                <a:spcPts val="800"/>
              </a:spcAft>
              <a:defRPr b="1" sz="1200">
                <a:solidFill>
                  <a:srgbClr val="1D4ED8"/>
                </a:solidFill>
              </a:defRPr>
            </a:pPr>
            <a:r>
              <a:t>• Opaque Citizen Tracking: </a:t>
            </a:r>
            <a:r>
              <a:rPr b="0" sz="1100">
                <a:solidFill>
                  <a:srgbClr val="1E293B"/>
                </a:solidFill>
              </a:rPr>
              <a:t>Lack of automated contextual status assistance leaves citizens unaware of complaint progress.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50876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Arial"/>
              </a:defRPr>
            </a:pPr>
            <a:r>
              <a:t>Operational Impact &amp; Target Focus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92024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200">
                <a:solidFill>
                  <a:srgbClr val="B45309"/>
                </a:solidFill>
              </a:defRPr>
            </a:pPr>
            <a:r>
              <a:t>• Triage Latency: </a:t>
            </a:r>
            <a:r>
              <a:rPr b="0" sz="1100">
                <a:solidFill>
                  <a:srgbClr val="1E293B"/>
                </a:solidFill>
              </a:rPr>
              <a:t>Manual sorting creates processing delays before complaints reach officer queues.</a:t>
            </a:r>
          </a:p>
          <a:p>
            <a:pPr>
              <a:spcAft>
                <a:spcPts val="1200"/>
              </a:spcAft>
              <a:defRPr b="1" sz="1200">
                <a:solidFill>
                  <a:srgbClr val="B45309"/>
                </a:solidFill>
              </a:defRPr>
            </a:pPr>
            <a:r>
              <a:t>• Routing Accuracy: </a:t>
            </a:r>
            <a:r>
              <a:rPr b="0" sz="1100">
                <a:solidFill>
                  <a:srgbClr val="1E293B"/>
                </a:solidFill>
              </a:rPr>
              <a:t>High frequency of inter-department misrouting when citizens select target departments manually.</a:t>
            </a:r>
          </a:p>
          <a:p>
            <a:pPr>
              <a:spcAft>
                <a:spcPts val="1200"/>
              </a:spcAft>
              <a:defRPr b="1" sz="1200">
                <a:solidFill>
                  <a:srgbClr val="B45309"/>
                </a:solidFill>
              </a:defRPr>
            </a:pPr>
            <a:r>
              <a:t>• Emergency Escalation: </a:t>
            </a:r>
            <a:r>
              <a:rPr b="0" sz="1100">
                <a:solidFill>
                  <a:srgbClr val="1E293B"/>
                </a:solidFill>
              </a:rPr>
              <a:t>Lack of automated keyword detection to escalate urgent leaks, power hazards, or contamination.</a:t>
            </a:r>
          </a:p>
          <a:p>
            <a:pPr>
              <a:spcAft>
                <a:spcPts val="1200"/>
              </a:spcAft>
              <a:defRPr b="1" sz="1200">
                <a:solidFill>
                  <a:srgbClr val="B45309"/>
                </a:solidFill>
              </a:defRPr>
            </a:pPr>
            <a:r>
              <a:t>• Language Friction: </a:t>
            </a:r>
            <a:r>
              <a:rPr b="0" sz="1100">
                <a:solidFill>
                  <a:srgbClr val="1E293B"/>
                </a:solidFill>
              </a:rPr>
              <a:t>Non-English regional complaints face severe processing delays due to manual script identification.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1D4ED8"/>
                </a:solidFill>
                <a:latin typeface="Arial"/>
              </a:defRPr>
            </a:pPr>
            <a:r>
              <a:t>PROJECT GOALS</a:t>
            </a:r>
          </a:p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Project Objectives &amp; Technical Scope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08760"/>
            <a:ext cx="475487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D4ED8"/>
                </a:solidFill>
                <a:latin typeface="Arial"/>
              </a:defRPr>
            </a:pPr>
            <a:r>
              <a:t>1. Automated AI Classification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</a:defRPr>
            </a:pPr>
            <a:r>
              <a:t>Implement statistical machine learning (TF-IDF + Logistic Regression) to classify raw complaint text into 9 primary government domains with confidence scores.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371600"/>
            <a:ext cx="512064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0" y="1508760"/>
            <a:ext cx="475487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D4ED8"/>
                </a:solidFill>
                <a:latin typeface="Arial"/>
              </a:defRPr>
            </a:pPr>
            <a:r>
              <a:t>2. Urgency &amp; Priority Assessment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78308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</a:defRPr>
            </a:pPr>
            <a:r>
              <a:t>Analyze emergency keywords to predict complaint priority (LOW, MEDIUM, HIGH, CRITICAL) and assign SLA resolution deadlines.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017520"/>
            <a:ext cx="512064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154679"/>
            <a:ext cx="475487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D4ED8"/>
                </a:solidFill>
                <a:latin typeface="Arial"/>
              </a:defRPr>
            </a:pPr>
            <a:r>
              <a:t>3. Confidence-Based Human 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42900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</a:defRPr>
            </a:pPr>
            <a:r>
              <a:t>Establish automated thresholding (75% confidence) to route uncertain AI predictions to administrators for human classification correction.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3017520"/>
            <a:ext cx="512064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3154679"/>
            <a:ext cx="475487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D4ED8"/>
                </a:solidFill>
                <a:latin typeface="Arial"/>
              </a:defRPr>
            </a:pPr>
            <a:r>
              <a:t>4. Explainable AI (XAI) Transparency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342900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</a:defRPr>
            </a:pPr>
            <a:r>
              <a:t>Extract exact TF-IDF token contribution weights for predictions, providing clear feature explanations for every assigned category.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663440"/>
            <a:ext cx="512064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800600"/>
            <a:ext cx="475487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D4ED8"/>
                </a:solidFill>
                <a:latin typeface="Arial"/>
              </a:defRPr>
            </a:pPr>
            <a:r>
              <a:t>5. Role-Based Governance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7492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</a:defRPr>
            </a:pPr>
            <a:r>
              <a:t>Build isolated web portals for Citizens (submit &amp; track), Officers (department-locked queues &amp; status updates), and Admins (analytics &amp; overrides).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4663440"/>
            <a:ext cx="512064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4800600"/>
            <a:ext cx="475487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D4ED8"/>
                </a:solidFill>
                <a:latin typeface="Arial"/>
              </a:defRPr>
            </a:pPr>
            <a:r>
              <a:t>6. Intent-Based Conversational Chatbot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507492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</a:defRPr>
            </a:pPr>
            <a:r>
              <a:t>Provide a 24/7 multi-turn citizen assistant for status tracking, reference retrieval, filing guidance, and department inquiry.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1D4ED8"/>
                </a:solidFill>
                <a:latin typeface="Arial"/>
              </a:defRPr>
            </a:pPr>
            <a:r>
              <a:t>SYSTEM COMPARISON</a:t>
            </a:r>
          </a:p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System Comparison: Existing Manual vs Proposed Framework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371600"/>
          <a:ext cx="10728655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4114800"/>
                <a:gridCol w="4144975"/>
              </a:tblGrid>
              <a:tr h="792480"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Feature / Dimension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Existing Conventional Portals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Proposed Intelligent Framework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</a:defRPr>
                      </a:pPr>
                      <a:r>
                        <a:t>Department Triage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Manual selection by citizen; high error rate.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D4ED8"/>
                          </a:solidFill>
                        </a:defRPr>
                      </a:pPr>
                      <a:r>
                        <a:t>Automated TF-IDF + Logistic Regression classification.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</a:defRPr>
                      </a:pPr>
                      <a:r>
                        <a:t>Priority &amp; Urgency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First-in-first-out (FIFO); no emergency urgency flag.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D4ED8"/>
                          </a:solidFill>
                        </a:defRPr>
                      </a:pPr>
                      <a:r>
                        <a:t>Urgency term analysis assigning LOW to CRITICAL SLAs.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</a:defRPr>
                      </a:pPr>
                      <a:r>
                        <a:t>Uncertain Predictions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Accepted automatically or misrouted silently.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D4ED8"/>
                          </a:solidFill>
                        </a:defRPr>
                      </a:pPr>
                      <a:r>
                        <a:t>Confidence threshold check (75%) flagging human review.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</a:defRPr>
                      </a:pPr>
                      <a:r>
                        <a:t>Explainability (XAI)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Black-box or manual administrative decision.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D4ED8"/>
                          </a:solidFill>
                        </a:defRPr>
                      </a:pPr>
                      <a:r>
                        <a:t>Exact TF-IDF token contribution scores returned per class.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</a:defRPr>
                      </a:pPr>
                      <a:r>
                        <a:t>Citizen Support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Static FAQ pages or slow email queries.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D4ED8"/>
                          </a:solidFill>
                        </a:defRPr>
                      </a:pPr>
                      <a:r>
                        <a:t>24/7 multi-turn intent-based chatbot for reference tracking.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1D4ED8"/>
                </a:solidFill>
                <a:latin typeface="Arial"/>
              </a:defRPr>
            </a:pPr>
            <a:r>
              <a:t>SYSTEM ARCHITECTURE</a:t>
            </a:r>
          </a:p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Decoupled 4-Tier Microservices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728655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08760"/>
            <a:ext cx="103628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D4ED8"/>
                </a:solidFill>
                <a:latin typeface="Arial"/>
              </a:defRPr>
            </a:pPr>
            <a:r>
              <a:t>1. React + TS Frontend UI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61120" y="1508760"/>
            <a:ext cx="2286000" cy="32004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4748B"/>
                </a:solidFill>
              </a:defRPr>
            </a:pPr>
            <a:r>
              <a:t>Port 80 (Nginx) / 5173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</a:defRPr>
            </a:pPr>
            <a:r>
              <a:t>Single Page App (SPA), AuthContext, Axios API Client, Role-based Dashboards, Tailwind CSS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560320"/>
            <a:ext cx="10728655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697479"/>
            <a:ext cx="103628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Arial"/>
              </a:defRPr>
            </a:pPr>
            <a:r>
              <a:t>2. Node.js + Express Gateway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0" y="2697479"/>
            <a:ext cx="2286000" cy="32004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4748B"/>
                </a:solidFill>
              </a:defRPr>
            </a:pPr>
            <a:r>
              <a:t>Port 5000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97180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</a:defRPr>
            </a:pPr>
            <a:r>
              <a:t>JWT Auth, RBAC Middleware, Workflow Logic, Prisma ORM, Notification Triggers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749039"/>
            <a:ext cx="10728655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886200"/>
            <a:ext cx="103628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66534"/>
                </a:solidFill>
                <a:latin typeface="Arial"/>
              </a:defRPr>
            </a:pPr>
            <a:r>
              <a:t>3. Python FastAPI AI Service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0" y="3886200"/>
            <a:ext cx="2286000" cy="32004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4748B"/>
                </a:solidFill>
              </a:defRPr>
            </a:pPr>
            <a:r>
              <a:t>Port 8001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16052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</a:defRPr>
            </a:pPr>
            <a:r>
              <a:t>FastAPI, Scikit-learn ML Pipeline, Langdetect, Priority Predictor, Chatbot Engine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937760"/>
            <a:ext cx="10728655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074920"/>
            <a:ext cx="103628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B45309"/>
                </a:solidFill>
                <a:latin typeface="Arial"/>
              </a:defRPr>
            </a:pPr>
            <a:r>
              <a:t>4. PostgreSQL 15 Database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61120" y="5074920"/>
            <a:ext cx="2286000" cy="32004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4748B"/>
                </a:solidFill>
              </a:defRPr>
            </a:pPr>
            <a:r>
              <a:t>Port 5432 / 5433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34924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</a:defRPr>
            </a:pPr>
            <a:r>
              <a:t>Relational persistence: Users, Departments, Grievances, Status History, Notifications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1D4ED8"/>
                </a:solidFill>
                <a:latin typeface="Arial"/>
              </a:defRPr>
            </a:pPr>
            <a:r>
              <a:t>TECH STACK</a:t>
            </a:r>
          </a:p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Technology Stack &amp; Core Dependencies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08760"/>
            <a:ext cx="475487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D4ED8"/>
                </a:solidFill>
                <a:latin typeface="Arial"/>
              </a:defRPr>
            </a:pPr>
            <a:r>
              <a:t>Frontend UI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100">
                <a:solidFill>
                  <a:srgbClr val="0F172A"/>
                </a:solidFill>
              </a:defRPr>
            </a:pPr>
            <a:r>
              <a:t>• Framework: </a:t>
            </a:r>
            <a:r>
              <a:rPr b="0" sz="1100">
                <a:solidFill>
                  <a:srgbClr val="1E293B"/>
                </a:solidFill>
              </a:rPr>
              <a:t>React 18 + TypeScript</a:t>
            </a:r>
          </a:p>
          <a:p>
            <a:pPr>
              <a:spcAft>
                <a:spcPts val="400"/>
              </a:spcAft>
              <a:defRPr b="1" sz="1100">
                <a:solidFill>
                  <a:srgbClr val="0F172A"/>
                </a:solidFill>
              </a:defRPr>
            </a:pPr>
            <a:r>
              <a:t>• Build Tool: </a:t>
            </a:r>
            <a:r>
              <a:rPr b="0" sz="1100">
                <a:solidFill>
                  <a:srgbClr val="1E293B"/>
                </a:solidFill>
              </a:rPr>
              <a:t>Vite</a:t>
            </a:r>
          </a:p>
          <a:p>
            <a:pPr>
              <a:spcAft>
                <a:spcPts val="400"/>
              </a:spcAft>
              <a:defRPr b="1" sz="1100">
                <a:solidFill>
                  <a:srgbClr val="0F172A"/>
                </a:solidFill>
              </a:defRPr>
            </a:pPr>
            <a:r>
              <a:t>• Styling: </a:t>
            </a:r>
            <a:r>
              <a:rPr b="0" sz="1100">
                <a:solidFill>
                  <a:srgbClr val="1E293B"/>
                </a:solidFill>
              </a:rPr>
              <a:t>Tailwind CSS</a:t>
            </a:r>
          </a:p>
          <a:p>
            <a:pPr>
              <a:spcAft>
                <a:spcPts val="400"/>
              </a:spcAft>
              <a:defRPr b="1" sz="1100">
                <a:solidFill>
                  <a:srgbClr val="0F172A"/>
                </a:solidFill>
              </a:defRPr>
            </a:pPr>
            <a:r>
              <a:t>• Icons: </a:t>
            </a:r>
            <a:r>
              <a:rPr b="0" sz="1100">
                <a:solidFill>
                  <a:srgbClr val="1E293B"/>
                </a:solidFill>
              </a:rPr>
              <a:t>Lucide React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371600"/>
            <a:ext cx="51206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0" y="1508760"/>
            <a:ext cx="475487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D4ED8"/>
                </a:solidFill>
                <a:latin typeface="Arial"/>
              </a:defRPr>
            </a:pPr>
            <a:r>
              <a:t>Backend Gateway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82880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100">
                <a:solidFill>
                  <a:srgbClr val="0F172A"/>
                </a:solidFill>
              </a:defRPr>
            </a:pPr>
            <a:r>
              <a:t>• Runtime: </a:t>
            </a:r>
            <a:r>
              <a:rPr b="0" sz="1100">
                <a:solidFill>
                  <a:srgbClr val="1E293B"/>
                </a:solidFill>
              </a:rPr>
              <a:t>Node.js v20+</a:t>
            </a:r>
          </a:p>
          <a:p>
            <a:pPr>
              <a:spcAft>
                <a:spcPts val="400"/>
              </a:spcAft>
              <a:defRPr b="1" sz="1100">
                <a:solidFill>
                  <a:srgbClr val="0F172A"/>
                </a:solidFill>
              </a:defRPr>
            </a:pPr>
            <a:r>
              <a:t>• Framework: </a:t>
            </a:r>
            <a:r>
              <a:rPr b="0" sz="1100">
                <a:solidFill>
                  <a:srgbClr val="1E293B"/>
                </a:solidFill>
              </a:rPr>
              <a:t>Express.js v4</a:t>
            </a:r>
          </a:p>
          <a:p>
            <a:pPr>
              <a:spcAft>
                <a:spcPts val="400"/>
              </a:spcAft>
              <a:defRPr b="1" sz="1100">
                <a:solidFill>
                  <a:srgbClr val="0F172A"/>
                </a:solidFill>
              </a:defRPr>
            </a:pPr>
            <a:r>
              <a:t>• ORM: </a:t>
            </a:r>
            <a:r>
              <a:rPr b="0" sz="1100">
                <a:solidFill>
                  <a:srgbClr val="1E293B"/>
                </a:solidFill>
              </a:rPr>
              <a:t>Prisma ORM v6</a:t>
            </a:r>
          </a:p>
          <a:p>
            <a:pPr>
              <a:spcAft>
                <a:spcPts val="400"/>
              </a:spcAft>
              <a:defRPr b="1" sz="1100">
                <a:solidFill>
                  <a:srgbClr val="0F172A"/>
                </a:solidFill>
              </a:defRPr>
            </a:pPr>
            <a:r>
              <a:t>• Security: </a:t>
            </a:r>
            <a:r>
              <a:rPr b="0" sz="1100">
                <a:solidFill>
                  <a:srgbClr val="1E293B"/>
                </a:solidFill>
              </a:rPr>
              <a:t>JWT + bcryptjs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51206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40"/>
            <a:ext cx="475487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D4ED8"/>
                </a:solidFill>
                <a:latin typeface="Arial"/>
              </a:defRPr>
            </a:pPr>
            <a:r>
              <a:t>AI Microservice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29768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100">
                <a:solidFill>
                  <a:srgbClr val="0F172A"/>
                </a:solidFill>
              </a:defRPr>
            </a:pPr>
            <a:r>
              <a:t>• Language: </a:t>
            </a:r>
            <a:r>
              <a:rPr b="0" sz="1100">
                <a:solidFill>
                  <a:srgbClr val="1E293B"/>
                </a:solidFill>
              </a:rPr>
              <a:t>Python 3.11 / 3.13</a:t>
            </a:r>
          </a:p>
          <a:p>
            <a:pPr>
              <a:spcAft>
                <a:spcPts val="400"/>
              </a:spcAft>
              <a:defRPr b="1" sz="1100">
                <a:solidFill>
                  <a:srgbClr val="0F172A"/>
                </a:solidFill>
              </a:defRPr>
            </a:pPr>
            <a:r>
              <a:t>• Framework: </a:t>
            </a:r>
            <a:r>
              <a:rPr b="0" sz="1100">
                <a:solidFill>
                  <a:srgbClr val="1E293B"/>
                </a:solidFill>
              </a:rPr>
              <a:t>FastAPI</a:t>
            </a:r>
          </a:p>
          <a:p>
            <a:pPr>
              <a:spcAft>
                <a:spcPts val="400"/>
              </a:spcAft>
              <a:defRPr b="1" sz="1100">
                <a:solidFill>
                  <a:srgbClr val="0F172A"/>
                </a:solidFill>
              </a:defRPr>
            </a:pPr>
            <a:r>
              <a:t>• ML Toolkit: </a:t>
            </a:r>
            <a:r>
              <a:rPr b="0" sz="1100">
                <a:solidFill>
                  <a:srgbClr val="1E293B"/>
                </a:solidFill>
              </a:rPr>
              <a:t>Scikit-learn + Joblib</a:t>
            </a:r>
          </a:p>
          <a:p>
            <a:pPr>
              <a:spcAft>
                <a:spcPts val="400"/>
              </a:spcAft>
              <a:defRPr b="1" sz="1100">
                <a:solidFill>
                  <a:srgbClr val="0F172A"/>
                </a:solidFill>
              </a:defRPr>
            </a:pPr>
            <a:r>
              <a:t>• NLP: </a:t>
            </a:r>
            <a:r>
              <a:rPr b="0" sz="1100">
                <a:solidFill>
                  <a:srgbClr val="1E293B"/>
                </a:solidFill>
              </a:rPr>
              <a:t>Langdetect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3840480"/>
            <a:ext cx="51206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3977640"/>
            <a:ext cx="475487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D4ED8"/>
                </a:solidFill>
                <a:latin typeface="Arial"/>
              </a:defRPr>
            </a:pPr>
            <a:r>
              <a:t>Database &amp; DevOps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429768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100">
                <a:solidFill>
                  <a:srgbClr val="0F172A"/>
                </a:solidFill>
              </a:defRPr>
            </a:pPr>
            <a:r>
              <a:t>• Database: </a:t>
            </a:r>
            <a:r>
              <a:rPr b="0" sz="1100">
                <a:solidFill>
                  <a:srgbClr val="1E293B"/>
                </a:solidFill>
              </a:rPr>
              <a:t>PostgreSQL 15</a:t>
            </a:r>
          </a:p>
          <a:p>
            <a:pPr>
              <a:spcAft>
                <a:spcPts val="400"/>
              </a:spcAft>
              <a:defRPr b="1" sz="1100">
                <a:solidFill>
                  <a:srgbClr val="0F172A"/>
                </a:solidFill>
              </a:defRPr>
            </a:pPr>
            <a:r>
              <a:t>• Containerization: </a:t>
            </a:r>
            <a:r>
              <a:rPr b="0" sz="1100">
                <a:solidFill>
                  <a:srgbClr val="1E293B"/>
                </a:solidFill>
              </a:rPr>
              <a:t>Docker &amp; Docker Compose</a:t>
            </a:r>
          </a:p>
          <a:p>
            <a:pPr>
              <a:spcAft>
                <a:spcPts val="400"/>
              </a:spcAft>
              <a:defRPr b="1" sz="1100">
                <a:solidFill>
                  <a:srgbClr val="0F172A"/>
                </a:solidFill>
              </a:defRPr>
            </a:pPr>
            <a:r>
              <a:t>• Testing: </a:t>
            </a:r>
            <a:r>
              <a:rPr b="0" sz="1100">
                <a:solidFill>
                  <a:srgbClr val="1E293B"/>
                </a:solidFill>
              </a:rPr>
              <a:t>Pytest &amp; Node --test</a:t>
            </a:r>
          </a:p>
          <a:p>
            <a:pPr>
              <a:spcAft>
                <a:spcPts val="400"/>
              </a:spcAft>
              <a:defRPr b="1" sz="1100">
                <a:solidFill>
                  <a:srgbClr val="0F172A"/>
                </a:solidFill>
              </a:defRPr>
            </a:pPr>
            <a:r>
              <a:t>• Quality: </a:t>
            </a:r>
            <a:r>
              <a:rPr b="0" sz="1100">
                <a:solidFill>
                  <a:srgbClr val="1E293B"/>
                </a:solidFill>
              </a:rPr>
              <a:t>ESLint &amp; Vite Build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1D4ED8"/>
                </a:solidFill>
                <a:latin typeface="Arial"/>
              </a:defRPr>
            </a:pPr>
            <a:r>
              <a:t>DATABASE SCHEMA</a:t>
            </a:r>
          </a:p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Database Design: Prisma Relational Schema Models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728655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08760"/>
            <a:ext cx="103628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Arial"/>
              </a:defRPr>
            </a:pPr>
            <a:r>
              <a:t>Model: User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1508760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</a:defRPr>
            </a:pPr>
            <a:r>
              <a:t>Stores account credentials, role (CITIZEN, OFFICER, ADMIN), and optional department_id for officers.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31720"/>
            <a:ext cx="10728655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468879"/>
            <a:ext cx="103628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Arial"/>
              </a:defRPr>
            </a:pPr>
            <a:r>
              <a:t>Model: Department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2468879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</a:defRPr>
            </a:pPr>
            <a:r>
              <a:t>Master catalog of 9 government departments (Water Supply, Electricity, PWD, Healthcare, etc.).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291840"/>
            <a:ext cx="10728655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429000"/>
            <a:ext cx="103628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Arial"/>
              </a:defRPr>
            </a:pPr>
            <a:r>
              <a:t>Model: Grievance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3429000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</a:defRPr>
            </a:pPr>
            <a:r>
              <a:t>Central entity storing complaint text, status, priority, department, AI confidence, XAI terms, and human correction flags.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251960"/>
            <a:ext cx="10728655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389120"/>
            <a:ext cx="103628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Arial"/>
              </a:defRPr>
            </a:pPr>
            <a:r>
              <a:t>Model: GrievanceStatusHistory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4389120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</a:defRPr>
            </a:pPr>
            <a:r>
              <a:t>Immutable audit trail capturing status transitions (SUBMITTED → UNDER_REVIEW → RESOLVED/REJECTED) and officer remarks.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212080"/>
            <a:ext cx="10728655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349240"/>
            <a:ext cx="103628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Arial"/>
              </a:defRPr>
            </a:pPr>
            <a:r>
              <a:t>Model: Notification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5349240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</a:defRPr>
            </a:pPr>
            <a:r>
              <a:t>In-app citizen notification records triggered on workflow events (STATUS_CHANGED, REVIEW_FLAGGED).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1D4ED8"/>
                </a:solidFill>
                <a:latin typeface="Arial"/>
              </a:defRPr>
            </a:pPr>
            <a:r>
              <a:t>WORKFLOW LIFECYCLE</a:t>
            </a:r>
          </a:p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End-to-End Grievance Processing &amp; Resolution Workflow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25146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00200"/>
            <a:ext cx="21488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D4ED8"/>
                </a:solidFill>
                <a:latin typeface="Arial"/>
              </a:defRPr>
            </a:pPr>
            <a:r>
              <a:t>1. Submission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920240"/>
            <a:ext cx="2240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Citizen enters complaint text (min 5 chars).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463040"/>
            <a:ext cx="25146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11880" y="1600200"/>
            <a:ext cx="21488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D4ED8"/>
                </a:solidFill>
                <a:latin typeface="Arial"/>
              </a:defRPr>
            </a:pPr>
            <a:r>
              <a:t>2. Language &amp; Prep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920240"/>
            <a:ext cx="2240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Langdetect checks script; text lowercased.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463040"/>
            <a:ext cx="25146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600200"/>
            <a:ext cx="21488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D4ED8"/>
                </a:solidFill>
                <a:latin typeface="Arial"/>
              </a:defRPr>
            </a:pPr>
            <a:r>
              <a:t>3. ML Inference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920240"/>
            <a:ext cx="2240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TF-IDF + LogReg predicts category &amp; confidence.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23960" y="1463040"/>
            <a:ext cx="25146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06840" y="1600200"/>
            <a:ext cx="21488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D4ED8"/>
                </a:solidFill>
                <a:latin typeface="Arial"/>
              </a:defRPr>
            </a:pPr>
            <a:r>
              <a:t>4. Urgency Analysis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0" y="1920240"/>
            <a:ext cx="2240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Urgency keywords set priority &amp; SLA hours.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840480"/>
            <a:ext cx="25146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977640"/>
            <a:ext cx="21488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D4ED8"/>
                </a:solidFill>
                <a:latin typeface="Arial"/>
              </a:defRPr>
            </a:pPr>
            <a:r>
              <a:t>5. Confidence Check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297680"/>
            <a:ext cx="2240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Conf &lt; 75% flags ai_review_required: true.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29000" y="3840480"/>
            <a:ext cx="25146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11880" y="3977640"/>
            <a:ext cx="21488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D4ED8"/>
                </a:solidFill>
                <a:latin typeface="Arial"/>
              </a:defRPr>
            </a:pPr>
            <a:r>
              <a:t>6. DB Persistence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4297680"/>
            <a:ext cx="2240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Saved in Postgres; reference GRV-2026-XXXX issued.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26480" y="3840480"/>
            <a:ext cx="25146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3977640"/>
            <a:ext cx="21488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D4ED8"/>
                </a:solidFill>
                <a:latin typeface="Arial"/>
              </a:defRPr>
            </a:pPr>
            <a:r>
              <a:t>7. Officer Review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4297680"/>
            <a:ext cx="2240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Department officer updates status + remarks.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23960" y="3840480"/>
            <a:ext cx="25146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06840" y="3977640"/>
            <a:ext cx="21488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D4ED8"/>
                </a:solidFill>
                <a:latin typeface="Arial"/>
              </a:defRPr>
            </a:pPr>
            <a:r>
              <a:t>8. Citizen Notice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0" y="4297680"/>
            <a:ext cx="2240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In-app status change notification sent.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1D4ED8"/>
                </a:solidFill>
                <a:latin typeface="Arial"/>
              </a:defRPr>
            </a:pPr>
            <a:r>
              <a:t>MACHINE LEARNING</a:t>
            </a:r>
          </a:p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AI/ML Methodology: TF-IDF + Logistic Regression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0876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D4ED8"/>
                </a:solidFill>
                <a:latin typeface="Arial"/>
              </a:defRPr>
            </a:pPr>
            <a:r>
              <a:t>TF-IDF Feature Representation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100">
                <a:solidFill>
                  <a:srgbClr val="0F172A"/>
                </a:solidFill>
              </a:defRPr>
            </a:pPr>
            <a:r>
              <a:t>• N-gram Range: </a:t>
            </a:r>
            <a:r>
              <a:rPr b="0" sz="1100">
                <a:solidFill>
                  <a:srgbClr val="1E293B"/>
                </a:solidFill>
              </a:rPr>
              <a:t>ngram_range=(1, 2) (Unigrams &amp; Bigrams)</a:t>
            </a:r>
          </a:p>
          <a:p>
            <a:pPr>
              <a:spcAft>
                <a:spcPts val="800"/>
              </a:spcAft>
              <a:defRPr b="1" sz="1100">
                <a:solidFill>
                  <a:srgbClr val="0F172A"/>
                </a:solidFill>
              </a:defRPr>
            </a:pPr>
            <a:r>
              <a:t>• Max Features: </a:t>
            </a:r>
            <a:r>
              <a:rPr b="0" sz="1100">
                <a:solidFill>
                  <a:srgbClr val="1E293B"/>
                </a:solidFill>
              </a:rPr>
              <a:t>max_features=5000 top informative terms</a:t>
            </a:r>
          </a:p>
          <a:p>
            <a:pPr>
              <a:spcAft>
                <a:spcPts val="800"/>
              </a:spcAft>
              <a:defRPr b="1" sz="1100">
                <a:solidFill>
                  <a:srgbClr val="0F172A"/>
                </a:solidFill>
              </a:defRPr>
            </a:pPr>
            <a:r>
              <a:t>• Sublinear TF: </a:t>
            </a:r>
            <a:r>
              <a:rPr b="0" sz="1100">
                <a:solidFill>
                  <a:srgbClr val="1E293B"/>
                </a:solidFill>
              </a:rPr>
              <a:t>sublinear_tf=True (1 + log(tf) scaling)</a:t>
            </a:r>
          </a:p>
          <a:p>
            <a:pPr>
              <a:spcAft>
                <a:spcPts val="800"/>
              </a:spcAft>
              <a:defRPr b="1" sz="1100">
                <a:solidFill>
                  <a:srgbClr val="0F172A"/>
                </a:solidFill>
              </a:defRPr>
            </a:pPr>
            <a:r>
              <a:t>• Preprocessing: </a:t>
            </a:r>
            <a:r>
              <a:rPr b="0" sz="1100">
                <a:solidFill>
                  <a:srgbClr val="1E293B"/>
                </a:solidFill>
              </a:rPr>
              <a:t>lowercase=True, stop-word &amp; noise removal</a:t>
            </a:r>
          </a:p>
          <a:p>
            <a:pPr>
              <a:spcAft>
                <a:spcPts val="800"/>
              </a:spcAft>
              <a:defRPr b="1" sz="1100">
                <a:solidFill>
                  <a:srgbClr val="0F172A"/>
                </a:solidFill>
              </a:defRPr>
            </a:pPr>
            <a:r>
              <a:t>• Mathematical TF-IDF: </a:t>
            </a:r>
            <a:r>
              <a:rPr b="0" sz="1100">
                <a:solidFill>
                  <a:srgbClr val="1E293B"/>
                </a:solidFill>
              </a:rPr>
              <a:t>TF-IDF(t,d) = TF(t,d) x log(N / df_t)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50876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Arial"/>
              </a:defRPr>
            </a:pPr>
            <a:r>
              <a:t>Logistic Regression &amp; XAI Explanations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92024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100">
                <a:solidFill>
                  <a:srgbClr val="1D4ED8"/>
                </a:solidFill>
              </a:defRPr>
            </a:pPr>
            <a:r>
              <a:t>• Inverse Reg Strength: </a:t>
            </a:r>
            <a:r>
              <a:rPr b="0" sz="1100">
                <a:solidFill>
                  <a:srgbClr val="1E293B"/>
                </a:solidFill>
              </a:rPr>
              <a:t>C=2.5 (optimal fit / regularization balance)</a:t>
            </a:r>
          </a:p>
          <a:p>
            <a:pPr>
              <a:spcAft>
                <a:spcPts val="800"/>
              </a:spcAft>
              <a:defRPr b="1" sz="1100">
                <a:solidFill>
                  <a:srgbClr val="1D4ED8"/>
                </a:solidFill>
              </a:defRPr>
            </a:pPr>
            <a:r>
              <a:t>• Solver &amp; Iterations: </a:t>
            </a:r>
            <a:r>
              <a:rPr b="0" sz="1100">
                <a:solidFill>
                  <a:srgbClr val="1E293B"/>
                </a:solidFill>
              </a:rPr>
              <a:t>solver='lbfgs', max_iter=1000, seed=42</a:t>
            </a:r>
          </a:p>
          <a:p>
            <a:pPr>
              <a:spcAft>
                <a:spcPts val="800"/>
              </a:spcAft>
              <a:defRPr b="1" sz="1100">
                <a:solidFill>
                  <a:srgbClr val="1D4ED8"/>
                </a:solidFill>
              </a:defRPr>
            </a:pPr>
            <a:r>
              <a:t>• Softmax Multiclass: </a:t>
            </a:r>
            <a:r>
              <a:rPr b="0" sz="1100">
                <a:solidFill>
                  <a:srgbClr val="1E293B"/>
                </a:solidFill>
              </a:rPr>
              <a:t>P(y=k|x) = exp(w_k.x + b_k) / Sum(exp(w_j.x + b_j))</a:t>
            </a:r>
          </a:p>
          <a:p>
            <a:pPr>
              <a:spcAft>
                <a:spcPts val="800"/>
              </a:spcAft>
              <a:defRPr b="1" sz="1100">
                <a:solidFill>
                  <a:srgbClr val="1D4ED8"/>
                </a:solidFill>
              </a:defRPr>
            </a:pPr>
            <a:r>
              <a:t>• XAI Token Weights: </a:t>
            </a:r>
            <a:r>
              <a:rPr b="0" sz="1100">
                <a:solidFill>
                  <a:srgbClr val="1E293B"/>
                </a:solidFill>
              </a:rPr>
              <a:t>Score(t) = TF-IDF(t) x w_predicted_class(t)</a:t>
            </a:r>
          </a:p>
          <a:p>
            <a:pPr>
              <a:spcAft>
                <a:spcPts val="800"/>
              </a:spcAft>
              <a:defRPr b="1" sz="1100">
                <a:solidFill>
                  <a:srgbClr val="1D4ED8"/>
                </a:solidFill>
              </a:defRPr>
            </a:pPr>
            <a:r>
              <a:t>• Academic Disclaimer: </a:t>
            </a:r>
            <a:r>
              <a:rPr b="0" sz="1100">
                <a:solidFill>
                  <a:srgbClr val="1E293B"/>
                </a:solidFill>
              </a:rPr>
              <a:t>Does NOT use Transformer models or LLMs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1D4ED8"/>
                </a:solidFill>
                <a:latin typeface="Arial"/>
              </a:defRPr>
            </a:pPr>
            <a:r>
              <a:t>HUMAN-IN-THE-LOOP</a:t>
            </a:r>
          </a:p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Confidence Thresholding &amp; Human Classification Review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728655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08760"/>
            <a:ext cx="103628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66534"/>
                </a:solidFill>
                <a:latin typeface="Arial"/>
              </a:defRPr>
            </a:pPr>
            <a:r>
              <a:t>HIGH Confidence (&gt;= 0.75)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0" y="1508760"/>
            <a:ext cx="2834640" cy="32004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66534"/>
                </a:solidFill>
              </a:defRPr>
            </a:pPr>
            <a:r>
              <a:t>AUTOMATIC DISPATCH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ai_review_required: false. Complaint is routed directly to the predicted department queue.</a:t>
            </a:r>
          </a:p>
          <a:p>
            <a:pPr>
              <a:defRPr sz="1000" b="1">
                <a:solidFill>
                  <a:srgbClr val="64748B"/>
                </a:solidFill>
              </a:defRPr>
            </a:pPr>
            <a:r>
              <a:t>Audit Trail: Admin correction updates category &amp; department_id, preserving ai_original_category and setting is_human_corrected: true.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926080"/>
            <a:ext cx="10728655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063240"/>
            <a:ext cx="103628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B45309"/>
                </a:solidFill>
                <a:latin typeface="Arial"/>
              </a:defRPr>
            </a:pPr>
            <a:r>
              <a:t>MEDIUM Confidence (0.50 - 0.74)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0" y="3063240"/>
            <a:ext cx="2834640" cy="32004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B45309"/>
                </a:solidFill>
              </a:defRPr>
            </a:pPr>
            <a:r>
              <a:t>FLAGGED FOR HUMAN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38328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ai_review_required: true. Complaint is flagged in Admin dashboard for manual inspection.</a:t>
            </a:r>
          </a:p>
          <a:p>
            <a:pPr>
              <a:defRPr sz="1000" b="1">
                <a:solidFill>
                  <a:srgbClr val="64748B"/>
                </a:solidFill>
              </a:defRPr>
            </a:pPr>
            <a:r>
              <a:t>Audit Trail: Admin correction updates category &amp; department_id, preserving ai_original_category and setting is_human_corrected: true.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480560"/>
            <a:ext cx="10728655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617720"/>
            <a:ext cx="103628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B91C1C"/>
                </a:solidFill>
                <a:latin typeface="Arial"/>
              </a:defRPr>
            </a:pPr>
            <a:r>
              <a:t>LOW Confidence (&lt; 0.50)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0" y="4617720"/>
            <a:ext cx="2834640" cy="32004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B91C1C"/>
                </a:solidFill>
              </a:defRPr>
            </a:pPr>
            <a:r>
              <a:t>ESCALATED HUMAN REVIEW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93776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ai_review_required: true. Low-confidence or out-of-domain text assigned category 'Other'.</a:t>
            </a:r>
          </a:p>
          <a:p>
            <a:pPr>
              <a:defRPr sz="1000" b="1">
                <a:solidFill>
                  <a:srgbClr val="64748B"/>
                </a:solidFill>
              </a:defRPr>
            </a:pPr>
            <a:r>
              <a:t>Audit Trail: Admin correction updates category &amp; department_id, preserving ai_original_category and setting is_human_corrected: true.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1D4ED8"/>
                </a:solidFill>
                <a:latin typeface="Arial"/>
              </a:defRPr>
            </a:pPr>
            <a:r>
              <a:t>MULTILINGUAL &amp; CHATBOT</a:t>
            </a:r>
          </a:p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Multilingual Language Detection &amp; Intent Chatbot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0876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D4ED8"/>
                </a:solidFill>
                <a:latin typeface="Arial"/>
              </a:defRPr>
            </a:pPr>
            <a:r>
              <a:t>Multilingual Handling (Langdetect)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100">
                <a:solidFill>
                  <a:srgbClr val="0F172A"/>
                </a:solidFill>
              </a:defRPr>
            </a:pPr>
            <a:r>
              <a:t>• Language Detector: </a:t>
            </a:r>
            <a:r>
              <a:rPr b="0" sz="1100">
                <a:solidFill>
                  <a:srgbClr val="1E293B"/>
                </a:solidFill>
              </a:rPr>
              <a:t>Uses langdetect library to identify ISO-639-1 language codes (en, hi, ta, te, mr, etc.).</a:t>
            </a:r>
          </a:p>
          <a:p>
            <a:pPr>
              <a:spcAft>
                <a:spcPts val="800"/>
              </a:spcAft>
              <a:defRPr b="1" sz="1100">
                <a:solidFill>
                  <a:srgbClr val="0F172A"/>
                </a:solidFill>
              </a:defRPr>
            </a:pPr>
            <a:r>
              <a:t>• Script Preservation: </a:t>
            </a:r>
            <a:r>
              <a:rPr b="0" sz="1100">
                <a:solidFill>
                  <a:srgbClr val="1E293B"/>
                </a:solidFill>
              </a:rPr>
              <a:t>Preserves original regional text in Postgres without altering citizen input.</a:t>
            </a:r>
          </a:p>
          <a:p>
            <a:pPr>
              <a:spcAft>
                <a:spcPts val="800"/>
              </a:spcAft>
              <a:defRPr b="1" sz="1100">
                <a:solidFill>
                  <a:srgbClr val="0F172A"/>
                </a:solidFill>
              </a:defRPr>
            </a:pPr>
            <a:r>
              <a:t>• Keyword Fallback: </a:t>
            </a:r>
            <a:r>
              <a:rPr b="0" sz="1100">
                <a:solidFill>
                  <a:srgbClr val="1E293B"/>
                </a:solidFill>
              </a:rPr>
              <a:t>Applies keyword rules for regional script domain terms.</a:t>
            </a:r>
          </a:p>
          <a:p>
            <a:pPr>
              <a:spcAft>
                <a:spcPts val="800"/>
              </a:spcAft>
              <a:defRPr b="1" sz="1100">
                <a:solidFill>
                  <a:srgbClr val="0F172A"/>
                </a:solidFill>
              </a:defRPr>
            </a:pPr>
            <a:r>
              <a:t>• Honest Disclaimer: </a:t>
            </a:r>
            <a:r>
              <a:rPr b="0" sz="1100">
                <a:solidFill>
                  <a:srgbClr val="1E293B"/>
                </a:solidFill>
              </a:rPr>
              <a:t>Does NOT perform IndicTrans2 neural translation; regional text preserved as-is.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50876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Arial"/>
              </a:defRPr>
            </a:pPr>
            <a:r>
              <a:t>Intent-Based Citizen Chatbot (9 Intents)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92024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100">
                <a:solidFill>
                  <a:srgbClr val="1D4ED8"/>
                </a:solidFill>
              </a:defRPr>
            </a:pPr>
            <a:r>
              <a:t>• 9 Explicit Intents: </a:t>
            </a:r>
            <a:r>
              <a:rPr b="0" sz="1100">
                <a:solidFill>
                  <a:srgbClr val="1E293B"/>
                </a:solidFill>
              </a:rPr>
              <a:t>GREETING, PRIORITY_INFO, PROCESS_INFO, TRACKING_GUIDANCE, SUBMIT_GUIDANCE, DEPT_INFO, HELP, GRIEVANCE_STATUS, UNKNOWN.</a:t>
            </a:r>
          </a:p>
          <a:p>
            <a:pPr>
              <a:spcAft>
                <a:spcPts val="800"/>
              </a:spcAft>
              <a:defRPr b="1" sz="1100">
                <a:solidFill>
                  <a:srgbClr val="1D4ED8"/>
                </a:solidFill>
              </a:defRPr>
            </a:pPr>
            <a:r>
              <a:t>• Entity Extraction: </a:t>
            </a:r>
            <a:r>
              <a:rPr b="0" sz="1100">
                <a:solidFill>
                  <a:srgbClr val="1E293B"/>
                </a:solidFill>
              </a:rPr>
              <a:t>Regex matches GRV-YYYY-XXXXXX reference tracking codes.</a:t>
            </a:r>
          </a:p>
          <a:p>
            <a:pPr>
              <a:spcAft>
                <a:spcPts val="800"/>
              </a:spcAft>
              <a:defRPr b="1" sz="1100">
                <a:solidFill>
                  <a:srgbClr val="1D4ED8"/>
                </a:solidFill>
              </a:defRPr>
            </a:pPr>
            <a:r>
              <a:t>• Context Recall: </a:t>
            </a:r>
            <a:r>
              <a:rPr b="0" sz="1100">
                <a:solidFill>
                  <a:srgbClr val="1E293B"/>
                </a:solidFill>
              </a:rPr>
              <a:t>Session context memory recalls last_grievance_number for pronouns ('it', 'this complaint').</a:t>
            </a:r>
          </a:p>
          <a:p>
            <a:pPr>
              <a:spcAft>
                <a:spcPts val="800"/>
              </a:spcAft>
              <a:defRPr b="1" sz="1100">
                <a:solidFill>
                  <a:srgbClr val="1D4ED8"/>
                </a:solidFill>
              </a:defRPr>
            </a:pPr>
            <a:r>
              <a:t>• Data Privacy: </a:t>
            </a:r>
            <a:r>
              <a:rPr b="0" sz="1100">
                <a:solidFill>
                  <a:srgbClr val="1E293B"/>
                </a:solidFill>
              </a:rPr>
              <a:t>Filters queries by authenticated user's grievances (user_id == req.user.id).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1D4ED8"/>
                </a:solidFill>
                <a:latin typeface="Arial"/>
              </a:defRPr>
            </a:pPr>
            <a:r>
              <a:t>SECURITY &amp; PRIVACY</a:t>
            </a:r>
          </a:p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Security Architecture &amp; Role-Based Access Control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08760"/>
            <a:ext cx="475487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D4ED8"/>
                </a:solidFill>
                <a:latin typeface="Arial"/>
              </a:defRPr>
            </a:pPr>
            <a:r>
              <a:t>JWT Authentication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</a:defRPr>
            </a:pPr>
            <a:r>
              <a:t>Stateless 24-hour JSON Web Tokens passed in Authorization: Bearer header. Validated via authenticate middleware.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371600"/>
            <a:ext cx="512064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0" y="1508760"/>
            <a:ext cx="475487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D4ED8"/>
                </a:solidFill>
                <a:latin typeface="Arial"/>
              </a:defRPr>
            </a:pPr>
            <a:r>
              <a:t>Password Security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78308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</a:defRPr>
            </a:pPr>
            <a:r>
              <a:t>Salted bcrypt hashing (cost factor 10) applied to passwords prior to PostgreSQL persistence.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017520"/>
            <a:ext cx="512064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154679"/>
            <a:ext cx="475487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D4ED8"/>
                </a:solidFill>
                <a:latin typeface="Arial"/>
              </a:defRPr>
            </a:pPr>
            <a:r>
              <a:t>Role-Based Access Control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42900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</a:defRPr>
            </a:pPr>
            <a:r>
              <a:t>requireRole('CITIZEN', 'OFFICER', 'ADMIN') middleware blocks unauthorized endpoint invocation with HTTP 403.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3017520"/>
            <a:ext cx="512064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3154679"/>
            <a:ext cx="475487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D4ED8"/>
                </a:solidFill>
                <a:latin typeface="Arial"/>
              </a:defRPr>
            </a:pPr>
            <a:r>
              <a:t>Citizen Ownership Isolation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342900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</a:defRPr>
            </a:pPr>
            <a:r>
              <a:t>Grievance lookups strictly include where: { user_id: req.user.id }, preventing cross-user data access.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663440"/>
            <a:ext cx="512064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800600"/>
            <a:ext cx="475487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D4ED8"/>
                </a:solidFill>
                <a:latin typeface="Arial"/>
              </a:defRPr>
            </a:pPr>
            <a:r>
              <a:t>Officer Department Isolation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7492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</a:defRPr>
            </a:pPr>
            <a:r>
              <a:t>Officer queues filter by where: { department_id: req.user.department_id }, enforcing department boundaries.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4663440"/>
            <a:ext cx="512064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4800600"/>
            <a:ext cx="475487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D4ED8"/>
                </a:solidFill>
                <a:latin typeface="Arial"/>
              </a:defRPr>
            </a:pPr>
            <a:r>
              <a:t>SQL Injection Protection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507492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</a:defRPr>
            </a:pPr>
            <a:r>
              <a:t>Prisma ORM parameterizes all SQL database queries, eliminating raw SQL string injection risks.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1D4ED8"/>
                </a:solidFill>
                <a:latin typeface="Arial"/>
              </a:defRPr>
            </a:pPr>
            <a:r>
              <a:t>UI SHOWCASE</a:t>
            </a:r>
          </a:p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Application User Interface &amp; Portal Demonstration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512064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17319"/>
            <a:ext cx="475487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Arial"/>
              </a:defRPr>
            </a:pPr>
            <a:r>
              <a:t>1. Citizen Submission</a:t>
            </a:r>
          </a:p>
        </p:txBody>
      </p:sp>
      <p:pic>
        <p:nvPicPr>
          <p:cNvPr id="5" name="Picture 4" descr="01_citizen_submis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737360"/>
            <a:ext cx="4846320" cy="18288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126480" y="1280160"/>
            <a:ext cx="512064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0" y="1417319"/>
            <a:ext cx="475487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Arial"/>
              </a:defRPr>
            </a:pPr>
            <a:r>
              <a:t>2. Multilingual Chatbot</a:t>
            </a:r>
          </a:p>
        </p:txBody>
      </p:sp>
      <p:pic>
        <p:nvPicPr>
          <p:cNvPr id="8" name="Picture 7" descr="02_chatbot_intera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737360"/>
            <a:ext cx="4846320" cy="18288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31520" y="3840479"/>
            <a:ext cx="512064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75487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Arial"/>
              </a:defRPr>
            </a:pPr>
            <a:r>
              <a:t>3. Officer Queue</a:t>
            </a:r>
          </a:p>
        </p:txBody>
      </p:sp>
      <p:pic>
        <p:nvPicPr>
          <p:cNvPr id="11" name="Picture 10" descr="03_officer_que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297679"/>
            <a:ext cx="4846320" cy="182880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126480" y="3840479"/>
            <a:ext cx="512064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3977639"/>
            <a:ext cx="475487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Arial"/>
              </a:defRPr>
            </a:pPr>
            <a:r>
              <a:t>4. Admin Overview</a:t>
            </a:r>
          </a:p>
        </p:txBody>
      </p:sp>
      <p:pic>
        <p:nvPicPr>
          <p:cNvPr id="14" name="Picture 13" descr="04_admin_dashboar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4297679"/>
            <a:ext cx="484632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1D4ED8"/>
                </a:solidFill>
                <a:latin typeface="Arial"/>
              </a:defRPr>
            </a:pPr>
            <a:r>
              <a:t>TESTING RESULTS</a:t>
            </a:r>
          </a:p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Empirical Testing &amp; Verification Metrics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251460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2331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66534"/>
                </a:solidFill>
              </a:defRPr>
            </a:pPr>
            <a:r>
              <a:t>34 / 34 Passed</a:t>
            </a:r>
          </a:p>
          <a:p>
            <a:pPr algn="ctr">
              <a:defRPr sz="1000">
                <a:solidFill>
                  <a:srgbClr val="1E293B"/>
                </a:solidFill>
              </a:defRPr>
            </a:pPr>
            <a:r>
              <a:t>Python Pytest AI Suite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1371600"/>
            <a:ext cx="251460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520440" y="1463040"/>
            <a:ext cx="2331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66534"/>
                </a:solidFill>
              </a:defRPr>
            </a:pPr>
            <a:r>
              <a:t>65 / 65 Passed</a:t>
            </a:r>
          </a:p>
          <a:p>
            <a:pPr algn="ctr">
              <a:defRPr sz="1000">
                <a:solidFill>
                  <a:srgbClr val="1E293B"/>
                </a:solidFill>
              </a:defRPr>
            </a:pPr>
            <a:r>
              <a:t>Node Backend Suite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371600"/>
            <a:ext cx="251460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0" y="1463040"/>
            <a:ext cx="2331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D4ED8"/>
                </a:solidFill>
              </a:defRPr>
            </a:pPr>
            <a:r>
              <a:t>0 Errors</a:t>
            </a:r>
          </a:p>
          <a:p>
            <a:pPr algn="ctr">
              <a:defRPr sz="1000">
                <a:solidFill>
                  <a:srgbClr val="1E293B"/>
                </a:solidFill>
              </a:defRPr>
            </a:pPr>
            <a:r>
              <a:t>Frontend ESLint Quality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60" y="1371600"/>
            <a:ext cx="251460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15400" y="1463040"/>
            <a:ext cx="2331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D4ED8"/>
                </a:solidFill>
              </a:defRPr>
            </a:pPr>
            <a:r>
              <a:t>SUCCESS</a:t>
            </a:r>
          </a:p>
          <a:p>
            <a:pPr algn="ctr">
              <a:defRPr sz="1000">
                <a:solidFill>
                  <a:srgbClr val="1E293B"/>
                </a:solidFill>
              </a:defRPr>
            </a:pPr>
            <a:r>
              <a:t>Vite Production Build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834640"/>
            <a:ext cx="10728655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971800"/>
            <a:ext cx="103628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Arial"/>
              </a:defRPr>
            </a:pPr>
            <a:r>
              <a:t>Empirical ML Evaluation: Clean Benchmark vs Realistic Edge Cases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291840"/>
            <a:ext cx="10362895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050">
                <a:solidFill>
                  <a:srgbClr val="1D4ED8"/>
                </a:solidFill>
              </a:defRPr>
            </a:pPr>
            <a:r>
              <a:t>• Clean Benchmark Split: </a:t>
            </a:r>
            <a:r>
              <a:rPr b="0" sz="1050">
                <a:solidFill>
                  <a:srgbClr val="1E293B"/>
                </a:solidFill>
              </a:rPr>
              <a:t>675 synthetic samples split strictly into Train (472, 70%), Validation (101, 15%), and Test (102, 15%). Seed: 42.</a:t>
            </a:r>
          </a:p>
          <a:p>
            <a:pPr>
              <a:spcAft>
                <a:spcPts val="400"/>
              </a:spcAft>
              <a:defRPr b="1" sz="1050">
                <a:solidFill>
                  <a:srgbClr val="1D4ED8"/>
                </a:solidFill>
              </a:defRPr>
            </a:pPr>
            <a:r>
              <a:t>• Clean Test Accuracy: </a:t>
            </a:r>
            <a:r>
              <a:rPr b="0" sz="1050">
                <a:solidFill>
                  <a:srgbClr val="1E293B"/>
                </a:solidFill>
              </a:rPr>
              <a:t>100.0% accuracy, precision, recall, and F1-score on clean held-out test split (102 samples) via evaluate_classifier.py.</a:t>
            </a:r>
          </a:p>
          <a:p>
            <a:pPr>
              <a:spcAft>
                <a:spcPts val="400"/>
              </a:spcAft>
              <a:defRPr b="1" sz="1050">
                <a:solidFill>
                  <a:srgbClr val="1D4ED8"/>
                </a:solidFill>
              </a:defRPr>
            </a:pPr>
            <a:r>
              <a:t>• Realistic Edge-Case Test: </a:t>
            </a:r>
            <a:r>
              <a:rPr b="0" sz="1050">
                <a:solidFill>
                  <a:srgbClr val="1E293B"/>
                </a:solidFill>
              </a:rPr>
              <a:t>79.63% accuracy (86/108 correct) on 108 realistic validation cases with typos, slang, and multi-issue text via error_analysis.py.</a:t>
            </a:r>
          </a:p>
          <a:p>
            <a:pPr>
              <a:spcAft>
                <a:spcPts val="400"/>
              </a:spcAft>
              <a:defRPr b="1" sz="1050">
                <a:solidFill>
                  <a:srgbClr val="1D4ED8"/>
                </a:solidFill>
              </a:defRPr>
            </a:pPr>
            <a:r>
              <a:t>• Human Review Safety Net: </a:t>
            </a:r>
            <a:r>
              <a:rPr b="0" sz="1050">
                <a:solidFill>
                  <a:srgbClr val="1E293B"/>
                </a:solidFill>
              </a:rPr>
              <a:t>88.9% (96/108) of ambiguous validation cases safely flagged for Human Review (confidence &lt; 0.75), preventing automated misrouting.</a:t>
            </a:r>
          </a:p>
          <a:p>
            <a:pPr>
              <a:spcAft>
                <a:spcPts val="400"/>
              </a:spcAft>
              <a:defRPr b="1" sz="1050">
                <a:solidFill>
                  <a:srgbClr val="1D4ED8"/>
                </a:solidFill>
              </a:defRPr>
            </a:pPr>
            <a:r>
              <a:t>• Academic Honesty: </a:t>
            </a:r>
            <a:r>
              <a:rPr b="0" sz="1050">
                <a:solidFill>
                  <a:srgbClr val="1E293B"/>
                </a:solidFill>
              </a:rPr>
              <a:t>Synthetic templates achieve 100%, but noisy inputs reduce direct ML accuracy to ~80%, proving the necessity of confidence thresholding.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1D4ED8"/>
                </a:solidFill>
                <a:latin typeface="Arial"/>
              </a:defRPr>
            </a:pPr>
            <a:r>
              <a:t>CONCLUSION &amp; FUTURE SCOPE</a:t>
            </a:r>
          </a:p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Conclusion, Verified Limitations &amp; Future Roadmap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0876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B91C1C"/>
                </a:solidFill>
                <a:latin typeface="Arial"/>
              </a:defRPr>
            </a:pPr>
            <a:r>
              <a:t>Verified Technical 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100">
                <a:solidFill>
                  <a:srgbClr val="0F172A"/>
                </a:solidFill>
              </a:defRPr>
            </a:pPr>
            <a:r>
              <a:t>• Classifier Scope: </a:t>
            </a:r>
            <a:r>
              <a:rPr b="0" sz="1100">
                <a:solidFill>
                  <a:srgbClr val="1E293B"/>
                </a:solidFill>
              </a:rPr>
              <a:t>Uses TF-IDF + Logistic Regression (does NOT use BERT or deep Transformers).</a:t>
            </a:r>
          </a:p>
          <a:p>
            <a:pPr>
              <a:spcAft>
                <a:spcPts val="800"/>
              </a:spcAft>
              <a:defRPr b="1" sz="1100">
                <a:solidFill>
                  <a:srgbClr val="0F172A"/>
                </a:solidFill>
              </a:defRPr>
            </a:pPr>
            <a:r>
              <a:t>• Language Limits: </a:t>
            </a:r>
            <a:r>
              <a:rPr b="0" sz="1100">
                <a:solidFill>
                  <a:srgbClr val="1E293B"/>
                </a:solidFill>
              </a:rPr>
              <a:t>Language detection active; regional text preserved without neural IndicTrans2 translation.</a:t>
            </a:r>
          </a:p>
          <a:p>
            <a:pPr>
              <a:spcAft>
                <a:spcPts val="800"/>
              </a:spcAft>
              <a:defRPr b="1" sz="1100">
                <a:solidFill>
                  <a:srgbClr val="0F172A"/>
                </a:solidFill>
              </a:defRPr>
            </a:pPr>
            <a:r>
              <a:t>• Chatbot Scope: </a:t>
            </a:r>
            <a:r>
              <a:rPr b="0" sz="1100">
                <a:solidFill>
                  <a:srgbClr val="1E293B"/>
                </a:solidFill>
              </a:rPr>
              <a:t>Explicit intent matching schemas; not a generative LLM or RAG model.</a:t>
            </a:r>
          </a:p>
          <a:p>
            <a:pPr>
              <a:spcAft>
                <a:spcPts val="800"/>
              </a:spcAft>
              <a:defRPr b="1" sz="1100">
                <a:solidFill>
                  <a:srgbClr val="0F172A"/>
                </a:solidFill>
              </a:defRPr>
            </a:pPr>
            <a:r>
              <a:t>• Synthetic Dataset: </a:t>
            </a:r>
            <a:r>
              <a:rPr b="0" sz="1100">
                <a:solidFill>
                  <a:srgbClr val="1E293B"/>
                </a:solidFill>
              </a:rPr>
              <a:t>Evaluated on 675 synthetic samples; real-world government data required for production scale.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50876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66534"/>
                </a:solidFill>
                <a:latin typeface="Arial"/>
              </a:defRPr>
            </a:pPr>
            <a:r>
              <a:t>Future Technical Enhancements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92024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100">
                <a:solidFill>
                  <a:srgbClr val="1D4ED8"/>
                </a:solidFill>
              </a:defRPr>
            </a:pPr>
            <a:r>
              <a:t>• IndicBERT Transformer: </a:t>
            </a:r>
            <a:r>
              <a:rPr b="0" sz="1100">
                <a:solidFill>
                  <a:srgbClr val="1E293B"/>
                </a:solidFill>
              </a:rPr>
              <a:t>Fine-tune IndicBERT or mBERT embeddings for contextual Indic language understanding.</a:t>
            </a:r>
          </a:p>
          <a:p>
            <a:pPr>
              <a:spcAft>
                <a:spcPts val="800"/>
              </a:spcAft>
              <a:defRPr b="1" sz="1100">
                <a:solidFill>
                  <a:srgbClr val="1D4ED8"/>
                </a:solidFill>
              </a:defRPr>
            </a:pPr>
            <a:r>
              <a:t>• Neural Translation: </a:t>
            </a:r>
            <a:r>
              <a:rPr b="0" sz="1100">
                <a:solidFill>
                  <a:srgbClr val="1E293B"/>
                </a:solidFill>
              </a:rPr>
              <a:t>Integrate IndicTrans2 NMT model for 22 official Indian languages.</a:t>
            </a:r>
          </a:p>
          <a:p>
            <a:pPr>
              <a:spcAft>
                <a:spcPts val="800"/>
              </a:spcAft>
              <a:defRPr b="1" sz="1100">
                <a:solidFill>
                  <a:srgbClr val="1D4ED8"/>
                </a:solidFill>
              </a:defRPr>
            </a:pPr>
            <a:r>
              <a:t>• Active Learning Pipeline: </a:t>
            </a:r>
            <a:r>
              <a:rPr b="0" sz="1100">
                <a:solidFill>
                  <a:srgbClr val="1E293B"/>
                </a:solidFill>
              </a:rPr>
              <a:t>Collect admin human corrections to automatically retrain model weights.</a:t>
            </a:r>
          </a:p>
          <a:p>
            <a:pPr>
              <a:spcAft>
                <a:spcPts val="800"/>
              </a:spcAft>
              <a:defRPr b="1" sz="1100">
                <a:solidFill>
                  <a:srgbClr val="1D4ED8"/>
                </a:solidFill>
              </a:defRPr>
            </a:pPr>
            <a:r>
              <a:t>• Telephony &amp; SMS: </a:t>
            </a:r>
            <a:r>
              <a:rPr b="0" sz="1100">
                <a:solidFill>
                  <a:srgbClr val="1E293B"/>
                </a:solidFill>
              </a:rPr>
              <a:t>Connect Twilio / NIC SMS &amp; WhatsApp gateways for low-literacy populations.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